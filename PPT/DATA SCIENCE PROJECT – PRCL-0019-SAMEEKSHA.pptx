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E15C8-63C1-B6F9-A0A4-ACFD83E460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858C71-54E4-25FF-A4C8-EC3C0FE79D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A473B-D071-D866-45F1-5C75D70D8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48F25-E0AE-4B5A-94AF-E5A56B04CE21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3F578-23BE-8965-7D83-9B016F2AE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28B73-C3DC-16A4-ABDC-39D06E85D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9F57E-5F25-4FDA-9FC2-565D145C4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8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1D9D8-0F46-19DA-45A6-AD22AE467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50EFF-0F48-5B1B-0291-FE6915BBC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14BC9-CA4E-750A-BF76-5DFEEA2BA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48F25-E0AE-4B5A-94AF-E5A56B04CE21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7AFBE5-B9CF-7762-AE52-D4D389B5D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289FC-3DB9-DEB0-627C-741D02004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9F57E-5F25-4FDA-9FC2-565D145C4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417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DEC40-8477-F67E-BD7D-71460A5CF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3A0874-AB03-6FF9-EFB3-BE255BC94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330EC-9E36-27C7-9CBF-7AE304DF2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48F25-E0AE-4B5A-94AF-E5A56B04CE21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56DFF-418B-A803-24D7-36F35184D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84D51-298E-7263-2CDE-4AA96DFFE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9F57E-5F25-4FDA-9FC2-565D145C4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922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F9BDD-9471-BF0F-65DF-2C21279BF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439F0-580E-AF0D-2C1B-AA2DCF5873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554420-6E69-6084-D5E0-0A23C81367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3C3598-C757-C16C-EDED-EDFBAFC9D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48F25-E0AE-4B5A-94AF-E5A56B04CE21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36A8B-C2D2-8CD8-567A-3C0A69D0E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E6663-2884-AA08-111C-0042D63FF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9F57E-5F25-4FDA-9FC2-565D145C4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668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EE3DA-7A31-F211-4F98-A04621C1A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EA7F9A-8740-E6FD-5DA7-1E192447F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0BD681-DCBA-5814-B78F-DCF2E957CB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9EBC03-116B-0B39-5706-F3D0F155D1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253BF8-43F2-2581-E9F7-010C750FB2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D66B19-F94B-0509-8568-407B2AE2D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48F25-E0AE-4B5A-94AF-E5A56B04CE21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37E4D6-5CBE-D353-0B11-EEF50F74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17A9BA-34CD-06F1-EA7B-D54BA7232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9F57E-5F25-4FDA-9FC2-565D145C4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306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71DCF-DB01-BB12-7E06-95D99F8D2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AEAEE1-6722-7C9A-74C0-668084F90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48F25-E0AE-4B5A-94AF-E5A56B04CE21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CB8686-3BDF-F19D-9FD0-6B23D4A0B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C9DA7F-5ED2-215D-9DD8-04B5F9DE3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9F57E-5F25-4FDA-9FC2-565D145C4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162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0CC701-493A-F2E6-602D-32148E1E4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48F25-E0AE-4B5A-94AF-E5A56B04CE21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E71C90-AA3D-B8ED-A251-7DFE9B32C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5AF4A-2117-C23C-FABF-BB8BF35D5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9F57E-5F25-4FDA-9FC2-565D145C4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626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2971A-4E0B-CB36-AA41-22F0B3600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77D95-4789-4009-AB20-9FC10FD00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78E3CB-D6F3-F994-7AAA-5C3F669ABD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D10F53-A794-3177-3C9C-42719DBA6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48F25-E0AE-4B5A-94AF-E5A56B04CE21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A18506-642B-EA6F-7785-5787BECA3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3D2F94-3BAC-D93E-B98D-778EF484E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9F57E-5F25-4FDA-9FC2-565D145C4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710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68C5E-555D-436E-55F8-CB0FF31C6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F397DD-749F-1015-81D7-A0C1C3E10B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77DC0F-D4D9-7780-DE3B-E785E5F19A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5980ED-1663-05BB-A1D6-E22333D42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48F25-E0AE-4B5A-94AF-E5A56B04CE21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17143-0FD6-5555-9993-22B2FB8AB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3146CE-9CB7-9D07-6089-8AB2FF5C7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9F57E-5F25-4FDA-9FC2-565D145C4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922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AF505-E9FB-D4BF-763E-929984D0A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64C074-0BD7-25F7-367B-FD6241308E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98327-B774-F677-63C0-62F28C772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48F25-E0AE-4B5A-94AF-E5A56B04CE21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CA457-9D37-1B33-A1C0-BF345987E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8EA9B-20CF-4932-82BC-4B8E5D67E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9F57E-5F25-4FDA-9FC2-565D145C4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023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51E172-CD34-07B8-0F8B-29E480D56F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B6D0AA-CE3E-BFFC-845C-C6EABC2DF7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60D95-76F0-D3F3-3910-F9811AFE3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48F25-E0AE-4B5A-94AF-E5A56B04CE21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7E28B-F7DB-4C37-9B41-E45BFDEA2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74173-5E71-4844-D7DA-94669B067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9F57E-5F25-4FDA-9FC2-565D145C4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579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13D8C-A164-FAE7-1640-08E486B7F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A72E93-FD15-601E-5B34-9FC865684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C834F-8D87-7AE7-BFD0-30EE788AF4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048F25-E0AE-4B5A-94AF-E5A56B04CE21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13D0A-9015-8802-7F70-F69970F8D2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4D285-DF2B-AA64-E3DA-57B16F7F1A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19F57E-5F25-4FDA-9FC2-565D145C4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804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ameekshagithub/PRCL-0019-Sales-Effectiveness-Lead-Category-Prediction-Using-Machine-Learning.git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FAE31-BBC5-62E6-E898-340379FBE6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99607"/>
            <a:ext cx="11902190" cy="2910356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PROJECT – PRCL-0019: SALES EFFECTIVENESS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50C380-E431-4270-5BBC-1184A2BBB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2400" y="5143500"/>
            <a:ext cx="4419600" cy="1714500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FicZon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Inc. (IT Solutions Provider)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Code: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PTID-AIE-JUL-26-11142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Sameeksha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DEF2A3-0DD5-EDF5-8A42-FD5260B806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33691"/>
            <a:ext cx="3867462" cy="2124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405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6D016-6943-671A-9BEC-F46E0C731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D75B2-9037-0614-0E75-CD7EDE4D27F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Overview &amp; Objectives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Overview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Exploratory Data Analysis (EDA)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Cleaning &amp; Preprocessing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Target Variable Creation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Machine Learning Models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677161-4B52-D04A-FE81-D9C6D8BB574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Hyperparameter Tuning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08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Performance Comparison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09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Overfitting Diagnostics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 Importance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Business Insights &amp; Challenges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Links &amp; Conclusion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63489D-75F6-315F-4A6B-64AB92B5FB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896"/>
          <a:stretch>
            <a:fillRect/>
          </a:stretch>
        </p:blipFill>
        <p:spPr>
          <a:xfrm>
            <a:off x="9893508" y="0"/>
            <a:ext cx="2298492" cy="1543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387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22E53-E353-B86D-F6A8-3B4732D91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PROJECT OVERVIEW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7E2FE-DFF1-DC64-ECB0-0DCA28EFF68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Problem:</a:t>
            </a:r>
          </a:p>
          <a:p>
            <a:pPr lvl="0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FicZon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Inc. generates the majority of its IT product leads through digital channels (website).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maturation and new competitors have caused a dip in sales.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 categorization is currently a manual, post-analysis process that fails to support real-time conversion decisions.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9BEE0C-984A-26DF-65B4-CC325DB9516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Objective: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Leverage Machine Learning to pre-categorize lead quality at the exact point of capture to dramatically increase sales effectiveness.</a:t>
            </a: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Goals: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clear data exploration insights related to sales patterns.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robust classification model to predict lead potential (High Potential vs. Low Potential) so agents can prioritize high-value deals.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1E37B9-0B80-AA0B-E5F7-EEE0F4FC94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031"/>
          <a:stretch>
            <a:fillRect/>
          </a:stretch>
        </p:blipFill>
        <p:spPr>
          <a:xfrm>
            <a:off x="10777928" y="0"/>
            <a:ext cx="1414072" cy="1543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790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14571-2C34-2932-CC9F-A6351D376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B5C02-6985-F2FE-3B93-5CBFF2E10A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514350" lvl="0" indent="-514350">
              <a:lnSpc>
                <a:spcPct val="120000"/>
              </a:lnSpc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MySQL Database —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project_sales.data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DataMites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™ Project Server).</a:t>
            </a:r>
          </a:p>
          <a:p>
            <a:pPr marL="514350" lvl="0" indent="-514350">
              <a:lnSpc>
                <a:spcPct val="120000"/>
              </a:lnSpc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Size: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7,422 records across 9 features.</a:t>
            </a:r>
          </a:p>
          <a:p>
            <a:pPr marL="514350" lvl="0" indent="-514350">
              <a:lnSpc>
                <a:spcPct val="120000"/>
              </a:lnSpc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mix of categorical identifiers, timestamps, and contact fields.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DE63D0-2A6C-FCCE-E249-BA9C8BFF9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63040"/>
            <a:ext cx="5181600" cy="5394960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(Timestamp)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(Product Identifier)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(Lead Acquisition Channel)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/ EMAIL (Customer Contact Flags)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Sales_Agent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(Assigned Sales Representative)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(Geographic Region)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Delivery_Mode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(Product Delivery Setup)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(Raw Outcome - used to build the target variable)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0ABAD1-5B78-081A-1BD2-4B0BAF287B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236"/>
          <a:stretch>
            <a:fillRect/>
          </a:stretch>
        </p:blipFill>
        <p:spPr>
          <a:xfrm>
            <a:off x="9928485" y="0"/>
            <a:ext cx="2138597" cy="182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791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D0331-842D-C41B-67F1-0DA26205B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EXPLORATORY DATA ANALYSIS (EDA) – VISUALIZING INSIGHTS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E96655-0311-62C9-5801-67F8FC9BC8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839" y="1810635"/>
            <a:ext cx="1017832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074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E1970-EB48-ED76-56BB-F64AF402B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DATA CLEANING &amp;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5418E-28D2-2CE5-716B-FC42C9C38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1.Null Value Treatment: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missing counts in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Sales_Agent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were explicitly filled with the category 'Unknown' to preserve rows and treat missingness as a predictive signal.</a:t>
            </a:r>
          </a:p>
          <a:p>
            <a:pPr lvl="1"/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blanks were converted to numeric values and imputed using the median.</a:t>
            </a:r>
          </a:p>
          <a:p>
            <a:pPr marL="0" lv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2.Outlier Capping (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Winsorization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107 outlier rows in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the IQR method.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were clipped at the IQR fences rather than deleted, keeping the row count intact.</a:t>
            </a:r>
          </a:p>
          <a:p>
            <a:pPr marL="0" lv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3.Final Cleaned Dataset Shape: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7,420 rows, 9 columns.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60D527-11A5-C942-8CBD-44B84AE4A2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896"/>
          <a:stretch>
            <a:fillRect/>
          </a:stretch>
        </p:blipFill>
        <p:spPr>
          <a:xfrm>
            <a:off x="10672996" y="0"/>
            <a:ext cx="1519003" cy="1543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27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831A7-C1F9-B386-0FC9-94DC65354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TARGET VARIABLE CREATION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34EC4-4D23-5F4C-E1F3-761BEC820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4008"/>
            <a:ext cx="7241498" cy="5456418"/>
          </a:xfrm>
        </p:spPr>
        <p:txBody>
          <a:bodyPr>
            <a:normAutofit fontScale="92500" lnSpcReduction="200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ready-made target column existed. The raw Status column contained case-sensitive, highly granular strings.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Root Cause Fix: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Corrected a critical mapping error where mismatched placeholder string keys originally caused all rows to collapse into a single category.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Strategic Mapping: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Potential: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CONVERTED, converted, In Progress Positive, Potential, Long Term.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Potential: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Progress Negative, Not Responding, Just Enquiry, Junk Lead, LOST, Open.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Class Balance: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Balanced and viable for modelling: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Potential: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4,571 records (61.6%)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Potential: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2,849 records (38.4%)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B878AF-04F6-0BC6-84A0-693A266BF6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7929" y="2001932"/>
            <a:ext cx="3597640" cy="44805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326A19-BC5C-FA33-2A06-9AF37785EC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896"/>
          <a:stretch>
            <a:fillRect/>
          </a:stretch>
        </p:blipFill>
        <p:spPr>
          <a:xfrm>
            <a:off x="10253272" y="0"/>
            <a:ext cx="1938728" cy="1543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395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E78F6-67E7-594F-C1AD-9915C5DAF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0E603-0F9E-AE95-A629-CD336C762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205"/>
          </a:xfrm>
        </p:spPr>
        <p:txBody>
          <a:bodyPr/>
          <a:lstStyle/>
          <a:p>
            <a:pPr marL="514350" lvl="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Features: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Broken Created timestamp down into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Created_Year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Created_Month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Created_Day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unlock seasonal and daily transaction trends.</a:t>
            </a:r>
          </a:p>
          <a:p>
            <a:pPr marL="514350" lvl="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 Quality Indicators: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Transformed raw Mobile numbers into a binary flag: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Has_Mobile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(0 for unknown/blank, 1 for provided).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Transformed EMAIL into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Has_Email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(0 or 1).</a:t>
            </a:r>
          </a:p>
          <a:p>
            <a:pPr marL="514350" lvl="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Leakage Prevention: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Dropped the raw Status column entirely before training to ensure the model evaluates leads purely on characteristics available at the time of capture.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A42B39-8CDB-36E8-A01A-1081F91A5C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896"/>
          <a:stretch>
            <a:fillRect/>
          </a:stretch>
        </p:blipFill>
        <p:spPr>
          <a:xfrm>
            <a:off x="9503764" y="0"/>
            <a:ext cx="2688236" cy="1543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883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A396A-9DF5-B8C9-6F89-25E870B73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MACHINE LEARNING MODELS EVALUATED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0E2B8-6D4E-E00F-58EF-9BDC9E1ED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Strategy: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Explored five distinct classification algorithms to identify the best balance of variance and bias.</a:t>
            </a:r>
          </a:p>
          <a:p>
            <a:pPr marL="0" lv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Regularized with an L2 penalty (C=0.5) and balanced class weights.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Classifier: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Pruned heavily 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max_depth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=6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min_samples_leaf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prevent data memorization.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Classifier: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Ensembled tree architecture built to resist noise via depth constraints.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K-Nearest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Neighbours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(KNN):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Distance-based cluster checking using an expanded neighborhood (k=15).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 Classifier: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Sequential ensemble optimized using stochastic boosting (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subsample=0.8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a conservative learning rate (0.05).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A00AA0-4C1C-7995-02CE-1AB9182D0F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896"/>
          <a:stretch>
            <a:fillRect/>
          </a:stretch>
        </p:blipFill>
        <p:spPr>
          <a:xfrm>
            <a:off x="9668656" y="0"/>
            <a:ext cx="2523344" cy="1543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843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8F588-9305-5723-CD1B-3147C39A4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HYPERPARAMETER 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B95A9-817C-9661-355F-2E31A2AD4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 a 5-fold stratified cross-validation via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GridSearchCV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Random Forest architecture to optimize the model without leaking data.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 Grid Tested: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n_estimators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max_depth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min_samples_split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min_samples_leaf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Parameter Selection: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max_depth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12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min_samples_leaf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5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min_samples_split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5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n_estimators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100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stabilized the random forest against high-cardinality sparse columns.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C809EF-074B-7CAA-8EF9-15E6B6A58A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896"/>
          <a:stretch>
            <a:fillRect/>
          </a:stretch>
        </p:blipFill>
        <p:spPr>
          <a:xfrm>
            <a:off x="9188970" y="0"/>
            <a:ext cx="3003030" cy="1543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458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307CC-220B-3A12-C182-08DB12E0B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MODEL PERFORMANCE COMPARISON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DB2334E-02EF-5ED0-7006-1222E903B5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144" y="1825625"/>
            <a:ext cx="1004965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439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E83B1-A17D-4E45-661C-E88015361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OVERFITTING DIAGNOSTICS &amp; FINAL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DB284-1BD8-DEE7-DEEE-29234F5F5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lvl="0" indent="-514350">
              <a:lnSpc>
                <a:spcPct val="100000"/>
              </a:lnSpc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Diagnostic Metrics: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Verified generalization capabilities using 5-Fold Cross-Validation vs Train-Test margins.</a:t>
            </a:r>
          </a:p>
          <a:p>
            <a:pPr marL="514350" lvl="0" indent="-514350">
              <a:lnSpc>
                <a:spcPct val="100000"/>
              </a:lnSpc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Winner Selection: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achieved the highest test accuracy (72.04%) and best F1-Score (71.12%) while maintaining an incredibly tight Train-Test gap of just 2.70%.</a:t>
            </a:r>
          </a:p>
          <a:p>
            <a:pPr marL="514350" lvl="0" indent="-514350">
              <a:lnSpc>
                <a:spcPct val="100000"/>
              </a:lnSpc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Anchor: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Confusion Matrix showing strong true positive and true negative classification counts for the Gradient Boosting model.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5FD4A0-9DC3-5858-D374-4C4EF28977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896"/>
          <a:stretch>
            <a:fillRect/>
          </a:stretch>
        </p:blipFill>
        <p:spPr>
          <a:xfrm>
            <a:off x="9188970" y="5314013"/>
            <a:ext cx="3003030" cy="1543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774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4B711-7F0C-04AC-2E36-CE7163861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FEATURE IMPORTANCE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DD09E425-E3FB-4A11-EF2F-12EAE1B369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332" y="1510831"/>
            <a:ext cx="987851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8074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93D0C-F54E-D93E-0570-23E4CBB39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 BUSINESS INSIGHTS &amp; ACTIONABLE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EF4D6-9CD7-D3D0-24D7-6A1D4799A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800475" cy="4830008"/>
          </a:xfrm>
        </p:spPr>
        <p:txBody>
          <a:bodyPr>
            <a:normAutofit fontScale="92500" lnSpcReduction="100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Funnel Optimization: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deploying the Gradient Boosting model at lead capture, agents can stop manually parsing portfolios and instantly prioritize High Potential leads.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Balancing Workloads: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Address the massive pipeline variance where certain agents handle too many leads, degrading response times and lowering close rates.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Geographic Allocations: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Shift marketing capital toward high-performing zones like Bangalore and optimize strategies for "Other Locations".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Product-Focused Sales Triggers: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Align specialized sales experts to handle leads showing interest in top-converting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3E48CD-1E3D-2B0A-D2BD-4D3CAD05FB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896"/>
          <a:stretch>
            <a:fillRect/>
          </a:stretch>
        </p:blipFill>
        <p:spPr>
          <a:xfrm>
            <a:off x="9188970" y="5246583"/>
            <a:ext cx="3003030" cy="1543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577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2F2CD-5D55-8405-65E0-F78089172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 CHALLENGES FACED &amp;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AC6BA-03D4-92F9-E1C9-CC35D8A53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8305800" cy="4351338"/>
          </a:xfrm>
        </p:spPr>
        <p:txBody>
          <a:bodyPr>
            <a:normAutofit fontScale="92500" lnSpcReduction="10000"/>
          </a:bodyPr>
          <a:lstStyle/>
          <a:p>
            <a:pPr marL="514350" lvl="0" indent="-514350">
              <a:lnSpc>
                <a:spcPct val="100000"/>
              </a:lnSpc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Missingness &amp; Leakage: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Resolving the initial string-matching mismatch that caused all target classes to drop into a single value, making early model validations useless.</a:t>
            </a:r>
          </a:p>
          <a:p>
            <a:pPr marL="514350" lvl="0" indent="-514350">
              <a:lnSpc>
                <a:spcPct val="100000"/>
              </a:lnSpc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Cardinality Constraints: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Managing over 50 sparse columns generated by one-hot encoding categorical variables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Sales_Agent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Location) on a relatively compact dataset.</a:t>
            </a:r>
          </a:p>
          <a:p>
            <a:pPr marL="514350" lvl="0" indent="-514350">
              <a:lnSpc>
                <a:spcPct val="100000"/>
              </a:lnSpc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Imbalanced Outcomes: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Handling the strong native tilt toward low-performing junk leads by introducing balancing constraints during training.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136491-7495-78C0-0240-2053FEF630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896"/>
          <a:stretch>
            <a:fillRect/>
          </a:stretch>
        </p:blipFill>
        <p:spPr>
          <a:xfrm>
            <a:off x="9144001" y="5314013"/>
            <a:ext cx="3003030" cy="1543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1192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4C943-D2BB-1E41-7248-C157F1CC4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14. CONCLUSION &amp; PROJECT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6651E-7483-7238-6923-9B6230CF4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Conclusion: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built and deployed an automated lead pre-categorization pipeline.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Shifted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FicZon’s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strategy from retrospective analysis to real-time sales empowerment.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&amp; Artifact Repositories: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🔗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https://github.com/Sameekshagithub/PRCL-0019-Sales-Effectiveness-Lead-Category-Prediction-Using-Machine-Learning.git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🔗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Drive Folder: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https://drive.google.com/drive/folders/1VE1wgDlXmQN1fXl-I-5Ymj2P8KUPEK49?usp=drive_link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5129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EC1EA-5AD9-769B-D6BB-2D389B52D0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48721"/>
            <a:ext cx="9144000" cy="1903751"/>
          </a:xfrm>
        </p:spPr>
        <p:txBody>
          <a:bodyPr>
            <a:normAutofit/>
          </a:bodyPr>
          <a:lstStyle/>
          <a:p>
            <a:r>
              <a:rPr lang="en-US" sz="96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308CF1-23EF-9B0A-CC64-0E1E75D2BD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852473"/>
            <a:ext cx="5921115" cy="300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193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1187</Words>
  <Application>Microsoft Office PowerPoint</Application>
  <PresentationFormat>Widescreen</PresentationFormat>
  <Paragraphs>104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Office Theme</vt:lpstr>
      <vt:lpstr>DATA SCIENCE PROJECT – PRCL-0019: SALES EFFECTIVENESS</vt:lpstr>
      <vt:lpstr>TABLE OF CONTENTS</vt:lpstr>
      <vt:lpstr>1. PROJECT OVERVIEW &amp; OBJECTIVES</vt:lpstr>
      <vt:lpstr>2. DATASET OVERVIEW</vt:lpstr>
      <vt:lpstr>3. EXPLORATORY DATA ANALYSIS (EDA) – VISUALIZING INSIGHTS</vt:lpstr>
      <vt:lpstr>4. DATA CLEANING &amp; PREPROCESSING</vt:lpstr>
      <vt:lpstr>5. TARGET VARIABLE CREATION </vt:lpstr>
      <vt:lpstr>6. FEATURE ENGINEERING</vt:lpstr>
      <vt:lpstr>7. MACHINE LEARNING MODELS EVALUATED</vt:lpstr>
      <vt:lpstr>8. HYPERPARAMETER TUNING</vt:lpstr>
      <vt:lpstr>9. MODEL PERFORMANCE COMPARISON</vt:lpstr>
      <vt:lpstr>10. OVERFITTING DIAGNOSTICS &amp; FINAL SELECTION</vt:lpstr>
      <vt:lpstr>11. FEATURE IMPORTANCE</vt:lpstr>
      <vt:lpstr>12. BUSINESS INSIGHTS &amp; ACTIONABLE IMPACT</vt:lpstr>
      <vt:lpstr>13. CHALLENGES FACED &amp; SOLUTIONS</vt:lpstr>
      <vt:lpstr>14. CONCLUSION &amp; PROJECT LINKS</vt:lpstr>
      <vt:lpstr>THANK YOU!!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Sameeksha Rai</dc:creator>
  <cp:lastModifiedBy>Sameeksha Rai</cp:lastModifiedBy>
  <cp:revision>1</cp:revision>
  <dcterms:created xsi:type="dcterms:W3CDTF">2026-09-03T12:45:14Z</dcterms:created>
  <dcterms:modified xsi:type="dcterms:W3CDTF">2026-09-03T12:48:53Z</dcterms:modified>
</cp:coreProperties>
</file>