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atrick Han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2595860"/>
            <a:ext cx="6179784" cy="1028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Sales Effectiveness — Lead Category Prediction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291898" y="3932932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Client: FicZon Inc. · Team Code: PTID-AIE-JUL-26-11142 · Submitted by: Sameeksha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2245916"/>
            <a:ext cx="617978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statement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20012" y="2965946"/>
            <a:ext cx="6179784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FicZon generates the majority of leads digitally, but conversions are slipping as competitors enter the market. Lead categorisation today is manual and retrospective — agents only see quality labels after follow-up, so prioritisation happens too late. We need a real‑time signal at capture to focus scarce sales effort where conversion likelihood is highest.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429147"/>
            <a:ext cx="3999507" cy="39996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27705" y="2472234"/>
            <a:ext cx="625022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Business objective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227705" y="3089374"/>
            <a:ext cx="6250228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Deliver an ML model that assigns each incoming lead to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 Potential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Low Potential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at the moment of capture so agents can prioritise outreach in real time. Success measures: increased conversion rate on high‑priority leads, faster response times, and improved seller efficiency.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2575123"/>
            <a:ext cx="617978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Dataset overview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291898" y="3295154"/>
            <a:ext cx="61797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Source: MySQL (project_sales.data). 7,422 records, 9 raw columns: Product_ID, Source, Mobile, EMAIL, Sales_Agent, Location, Delivery_Mode, Created, Status.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Lead_Category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(target) is not present — it must be derived from Status strings.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559322"/>
            <a:ext cx="1075167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Exploratory data analysis — key patterns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382242"/>
            <a:ext cx="548864" cy="3392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6045" y="2382242"/>
            <a:ext cx="16889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Volume by Source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526045" y="2762845"/>
            <a:ext cx="1688959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Channel volumes vary widely; some channels yield many leads but lower quality.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173" y="2382242"/>
            <a:ext cx="548864" cy="3392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78205" y="2382242"/>
            <a:ext cx="168905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Top Sales Agents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278205" y="2762845"/>
            <a:ext cx="168905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Conversion and volume are concentrated among a subset of agents — performance variance is material.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432" y="2382242"/>
            <a:ext cx="548864" cy="3392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30465" y="2382242"/>
            <a:ext cx="16889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Geography &amp; Delivery Mode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030465" y="3020020"/>
            <a:ext cx="1688959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Location and delivery preferences influence lead quality; some regions convert at higher rates.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592" y="2382242"/>
            <a:ext cx="548864" cy="3392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2625" y="2382242"/>
            <a:ext cx="168905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Leads over time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782625" y="2762845"/>
            <a:ext cx="1689058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Seasonality and time-of-day effects observed — created timestamp contains signal.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20012" y="4969470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Takeaway: volume ≠ quality — channel, agent and location matter and should be modelled.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866477"/>
            <a:ext cx="5124917" cy="51250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3115" y="2091730"/>
            <a:ext cx="512491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cleaning approach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6353115" y="2708870"/>
            <a:ext cx="5124917" cy="2191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Nulls in Source, Sales_Agent, Location, Mobile → filled with "Unknown" (signal preserved).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Product_ID → imputed with median; outliers identified with IQR and winsorised (capped).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Duplicates removed — no lead rows deleted unnecessarily.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All cleaning decisions documented for reproducibility and audit.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1554262"/>
            <a:ext cx="617978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Target engineering — critical step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20012" y="2274292"/>
            <a:ext cx="6179784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Status contains heterogeneous strings (e.g., "CONVERTED", "converted", "In Progress Positive", "Junk Lead", "LOST"). We map exact status strings to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 Potential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Low Potential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using a business‑validated dictionary. Note: exact-string matching is required — incorrect mappings can silently corrupt labels and downstream performance.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20012" y="4151709"/>
            <a:ext cx="6179784" cy="1152029"/>
          </a:xfrm>
          <a:prstGeom prst="roundRect">
            <a:avLst>
              <a:gd name="adj" fmla="val 7501"/>
            </a:avLst>
          </a:prstGeom>
          <a:solidFill>
            <a:srgbClr val="E6E6E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88" y="4444702"/>
            <a:ext cx="257169" cy="205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8532" y="4408785"/>
            <a:ext cx="530559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Validate mapping with FicZon sales users before training; maintain a versioned mapping file.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75160"/>
            <a:ext cx="4562162" cy="2707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5331" y="4176624"/>
            <a:ext cx="1134030" cy="17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Drop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2466142" y="4176624"/>
            <a:ext cx="1134030" cy="17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Derive Flags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13651" y="4176624"/>
            <a:ext cx="1134030" cy="17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Extract Date Parts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90361" y="2456954"/>
            <a:ext cx="568757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Feature engineering highlights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5790361" y="3074095"/>
            <a:ext cx="5687573" cy="14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Created → Year / Month / Day / Hour (seasonality &amp; time-of-day).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Mobile / EMAIL → binary Has_Mobile / Has_Email flags.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High‑cardinality categoricals prepared for encoding; Status removed after target derivation to prevent leakage.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866477"/>
            <a:ext cx="5124917" cy="51250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3115" y="2050455"/>
            <a:ext cx="512491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Modeling &amp; evaluation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6353115" y="2667595"/>
            <a:ext cx="5124917" cy="2160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Preparation: one‑hot encode categoricals, label‑encode target, stratified 80/20 train/test split, scale features for LR/KNN. Models trained: Logistic Regression, Decision Tree, Random Forest, KNN, Gradient Boosting — all regularised and tuned to reduce overfitting.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Hyperparameter tuning: GridSearchCV optimising F1 for Random Forest across n_estimators, max_depth, min_samples_split/leaf.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8" y="144661"/>
            <a:ext cx="4379009" cy="6568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65758"/>
            <a:ext cx="6179784" cy="3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Results, insights &amp; next steps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291898" y="1322586"/>
            <a:ext cx="2999506" cy="2242741"/>
          </a:xfrm>
          <a:prstGeom prst="roundRect">
            <a:avLst>
              <a:gd name="adj" fmla="val 3612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91124" y="1521817"/>
            <a:ext cx="260105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 performance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91124" y="1871365"/>
            <a:ext cx="2601054" cy="149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Best model: Random Forest (balanced accuracy &amp; F1). Confusion matrix shows strong precision on High Potential class; recall trade-offs documented for operational tuning.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72176" y="1322586"/>
            <a:ext cx="2999506" cy="2242741"/>
          </a:xfrm>
          <a:prstGeom prst="roundRect">
            <a:avLst>
              <a:gd name="adj" fmla="val 3612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403" y="1521817"/>
            <a:ext cx="260105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Feature importance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71403" y="1871365"/>
            <a:ext cx="2601054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Top predictors: Source, Sales_Agent, Location, Created time parts, Delivery_Mode — actionable signals for routing and prioritisation.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291898" y="3746103"/>
            <a:ext cx="6179784" cy="1644848"/>
          </a:xfrm>
          <a:prstGeom prst="roundRect">
            <a:avLst>
              <a:gd name="adj" fmla="val 4925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91124" y="3945334"/>
            <a:ext cx="578133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Business impact &amp; next steps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91124" y="4294882"/>
            <a:ext cx="5781332" cy="896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Immediate: deploy real‑time scoring at capture, route top leads to priority queues. Validate status→target mapping with sales. Operational: monitor drift, schedule periodic retraining, and secure DB credentials and mapping artifacts.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91898" y="5594350"/>
            <a:ext cx="6179784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Would you like a downloadable .pptx with embedded charts and the full notebook visuals? I can build it from these assets and include reproducible code snippets.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2026-09-03T11:25:01Z</dcterms:created>
  <dcterms:modified xsi:type="dcterms:W3CDTF">2026-09-03T11:25:01Z</dcterms:modified>
</cp:coreProperties>
</file>